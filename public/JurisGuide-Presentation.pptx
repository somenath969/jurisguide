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1E3D6A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4572000" cy="4572000"/>
          </a:xfrm>
          <a:prstGeom prst="ellipse">
            <a:avLst/>
          </a:prstGeom>
          <a:solidFill>
            <a:srgbClr val="D4A82F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727448" y="1097280"/>
            <a:ext cx="2743200" cy="2743200"/>
          </a:xfrm>
          <a:prstGeom prst="roundRect">
            <a:avLst>
              <a:gd name="adj" fmla="val 10000"/>
            </a:avLst>
          </a:prstGeom>
          <a:solidFill>
            <a:srgbClr val="1E3D6A"/>
          </a:solidFill>
          <a:ln w="19050">
            <a:solidFill>
              <a:srgbClr val="D4A82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27448" y="1097280"/>
            <a:ext cx="27432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D4A82F"/>
                </a:solidFill>
              </a:rPr>
              <a:t>⚖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0" y="393192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0" y="3840480"/>
            <a:ext cx="1219169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</a:t>
            </a:r>
            <a:pPr algn="ctr" indent="0" marL="0">
              <a:buNone/>
            </a:pPr>
            <a:r>
              <a:rPr lang="en-US" sz="48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4663440"/>
            <a:ext cx="103628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Making Legal Information Simple, Accessible and Understandable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5394960"/>
            <a:ext cx="1828800" cy="365760"/>
          </a:xfrm>
          <a:prstGeom prst="rect">
            <a:avLst>
              <a:gd name="adj" fmla="val 50000"/>
            </a:avLst>
          </a:prstGeom>
          <a:solidFill>
            <a:srgbClr val="152E52">
              <a:alpha val="50000"/>
            </a:srgbClr>
          </a:solidFill>
          <a:ln w="12700">
            <a:solidFill>
              <a:srgbClr val="1E3D6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 Legal Documents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297680" y="5394960"/>
            <a:ext cx="1828800" cy="365760"/>
          </a:xfrm>
          <a:prstGeom prst="rect">
            <a:avLst>
              <a:gd name="adj" fmla="val 50000"/>
            </a:avLst>
          </a:prstGeom>
          <a:solidFill>
            <a:srgbClr val="152E52">
              <a:alpha val="50000"/>
            </a:srgbClr>
          </a:solidFill>
          <a:ln w="12700">
            <a:solidFill>
              <a:srgbClr val="1E3D6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AI Analysis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5394960"/>
            <a:ext cx="1828800" cy="365760"/>
          </a:xfrm>
          <a:prstGeom prst="rect">
            <a:avLst>
              <a:gd name="adj" fmla="val 50000"/>
            </a:avLst>
          </a:prstGeom>
          <a:solidFill>
            <a:srgbClr val="152E52">
              <a:alpha val="50000"/>
            </a:srgbClr>
          </a:solidFill>
          <a:ln w="12700">
            <a:solidFill>
              <a:srgbClr val="1E3D6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 Rights &amp; Duties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321040" y="5394960"/>
            <a:ext cx="1828800" cy="365760"/>
          </a:xfrm>
          <a:prstGeom prst="rect">
            <a:avLst>
              <a:gd name="adj" fmla="val 50000"/>
            </a:avLst>
          </a:prstGeom>
          <a:solidFill>
            <a:srgbClr val="152E52">
              <a:alpha val="50000"/>
            </a:srgbClr>
          </a:solidFill>
          <a:ln w="12700">
            <a:solidFill>
              <a:srgbClr val="1E3D6A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 Multilingual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0" y="621792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Legal Assistance Platform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struggle to understand legal documents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person receives a property agreement full of complicated legal terms. They sign it without fully understanding the conditions.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0" cy="4389120"/>
          </a:xfrm>
          <a:prstGeom prst="roundRect">
            <a:avLst>
              <a:gd name="adj" fmla="val 2083"/>
            </a:avLst>
          </a:prstGeom>
          <a:solidFill>
            <a:srgbClr val="152E52"/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74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Real Scenario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28600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E3D6A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2860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22860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Receives a 15-page property agreement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651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1E3D6A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3108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34440" y="3108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Cannot understand legal terminology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3931920"/>
            <a:ext cx="320040" cy="320040"/>
          </a:xfrm>
          <a:prstGeom prst="roundRect">
            <a:avLst>
              <a:gd name="adj" fmla="val 14286"/>
            </a:avLst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931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9319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Signs without knowing the full implications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" y="4754880"/>
            <a:ext cx="4389120" cy="548640"/>
          </a:xfrm>
          <a:prstGeom prst="roundRect">
            <a:avLst>
              <a:gd name="adj" fmla="val 13333"/>
            </a:avLst>
          </a:prstGeom>
          <a:solidFill>
            <a:srgbClr val="C0392B">
              <a:alpha val="25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75488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94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Consequence: Hidden clauses, financial risk, or missed obligations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43600" y="17373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35040" y="1783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17920" y="1783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 legal language in contracts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778240" y="17373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869680" y="178308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052560" y="178308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Lack of legal awareness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943600" y="283464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2880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2880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Difficulty understanding clauses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778240" y="283464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288036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052560" y="288036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Finding reliable information is hard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943600" y="393192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035040" y="3977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0" y="3977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barriers prevent understanding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778240" y="393192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869680" y="397764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52560" y="397764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about court procedures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943600" y="50292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035040" y="5074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6217920" y="5074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Fear of missing court dates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778240" y="502920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69680" y="5074920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9052560" y="50749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Unaware of rights, duties &amp; consequences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💡  WHY IT MATTERS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real-world impact of legal confusion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190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may sign documents without understanding them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3591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591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28600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Important conditions and hidden clauses can be overlooked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926080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9992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99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292608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depend on unreliable online information or hearsay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63931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6393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356616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procedures feel confusing and intimidating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27939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2793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20624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becomes a barrier to accessing legal help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4846320"/>
            <a:ext cx="59436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" y="49194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49194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88720" y="4846320"/>
            <a:ext cx="5212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People may not know their basic rights and responsibilities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858000" y="1645920"/>
            <a:ext cx="4754880" cy="4114800"/>
          </a:xfrm>
          <a:prstGeom prst="roundRect">
            <a:avLst>
              <a:gd name="adj" fmla="val 2222"/>
            </a:avLst>
          </a:prstGeom>
          <a:solidFill>
            <a:srgbClr val="152E52"/>
          </a:solidFill>
          <a:ln w="19050">
            <a:solidFill>
              <a:srgbClr val="D4A8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40880" y="18288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✨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7498080" y="18288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Key Insight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132320" y="2377440"/>
            <a:ext cx="42062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"People do not always need more legal information; they need legal information explained in a way they can understand."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132320" y="4846320"/>
            <a:ext cx="1097280" cy="36576"/>
          </a:xfrm>
          <a:prstGeom prst="roundRect">
            <a:avLst/>
          </a:prstGeom>
          <a:solidFill>
            <a:srgbClr val="D4A82F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0" y="50292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what JurisGuide aims to solve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 OUR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JurisGuide: One platform for legal understanding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digital platform combining AI document analysis, legal chatbot, multilingual support, and legal domain guidance.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727448" y="1828800"/>
            <a:ext cx="2743200" cy="2743200"/>
          </a:xfrm>
          <a:prstGeom prst="ellipse">
            <a:avLst/>
          </a:prstGeom>
          <a:solidFill>
            <a:srgbClr val="1E3D6A"/>
          </a:solidFill>
          <a:ln w="25400">
            <a:solidFill>
              <a:srgbClr val="D4A8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727448" y="19202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D4A82F"/>
                </a:solidFill>
              </a:rPr>
              <a:t>⚖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727448" y="292608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JurisGuide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Document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Chatbot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937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Explanations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8869680" y="164592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0" y="16459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Crime &amp;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Punishment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869680" y="32918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869680" y="493776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869680" y="493776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Reminders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017520" y="51206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17520" y="5120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5120640"/>
            <a:ext cx="2377440" cy="822960"/>
          </a:xfrm>
          <a:prstGeom prst="roundRect">
            <a:avLst>
              <a:gd name="adj" fmla="val 11111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26480" y="51206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Domain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👥  USER JOURNEY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a citizen uses JurisGuide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645920"/>
            <a:ext cx="5303520" cy="594360"/>
          </a:xfrm>
          <a:prstGeom prst="roundRect">
            <a:avLst>
              <a:gd name="adj" fmla="val 15385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63040" y="17190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6304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920240" y="16459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Register / Login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720840" y="164592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2F"/>
                </a:solidFill>
              </a:rPr>
              <a:t>→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406640" y="1645920"/>
            <a:ext cx="5303520" cy="594360"/>
          </a:xfrm>
          <a:prstGeom prst="roundRect">
            <a:avLst>
              <a:gd name="adj" fmla="val 15385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0" y="171907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0" y="171907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164592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Language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71600" y="2514600"/>
            <a:ext cx="5303520" cy="594360"/>
          </a:xfrm>
          <a:prstGeom prst="roundRect">
            <a:avLst>
              <a:gd name="adj" fmla="val 15385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63040" y="25877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2587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920240" y="2514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Select Legal Domain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20840" y="251460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2F"/>
                </a:solidFill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406640" y="2514600"/>
            <a:ext cx="5303520" cy="594360"/>
          </a:xfrm>
          <a:prstGeom prst="roundRect">
            <a:avLst>
              <a:gd name="adj" fmla="val 15385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98080" y="258775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0" y="25877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955280" y="251460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/ Scan Document or Ask a Question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371600" y="3383280"/>
            <a:ext cx="5303520" cy="594360"/>
          </a:xfrm>
          <a:prstGeom prst="roundRect">
            <a:avLst>
              <a:gd name="adj" fmla="val 15385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63040" y="34564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63040" y="3456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3832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Analyzes the Information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338328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2F"/>
                </a:solidFill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7406640" y="3383280"/>
            <a:ext cx="5303520" cy="594360"/>
          </a:xfrm>
          <a:prstGeom prst="roundRect">
            <a:avLst>
              <a:gd name="adj" fmla="val 15385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345643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0" y="34564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955280" y="338328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Explanation Generated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371600" y="4251960"/>
            <a:ext cx="5303520" cy="594360"/>
          </a:xfrm>
          <a:prstGeom prst="roundRect">
            <a:avLst>
              <a:gd name="adj" fmla="val 15385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3040" y="432511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63040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7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20240" y="4251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Rights, Duties &amp; Consequences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720840" y="42519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4A82F"/>
                </a:solidFill>
              </a:rPr>
              <a:t>→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7406640" y="4251960"/>
            <a:ext cx="5303520" cy="594360"/>
          </a:xfrm>
          <a:prstGeom prst="roundRect">
            <a:avLst>
              <a:gd name="adj" fmla="val 15385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98080" y="4325112"/>
            <a:ext cx="365760" cy="365760"/>
          </a:xfrm>
          <a:prstGeom prst="roundRect">
            <a:avLst>
              <a:gd name="adj" fmla="val 12500"/>
            </a:avLst>
          </a:prstGeom>
          <a:solidFill>
            <a:srgbClr val="D4A82F">
              <a:alpha val="15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432511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82F"/>
                </a:solidFill>
              </a:rPr>
              <a:t>8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955280" y="425196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Save Document / Ask Chatbot / Set Reminder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286000" y="5760720"/>
            <a:ext cx="758952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286000" y="5760720"/>
            <a:ext cx="7589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confusion to clarity — in the user's own language, at their own pace.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📊  CORE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JurisGuide dashboard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Eleven integrated features accessible from a single, clean dashboard.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Legal Chatbot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legal questions in plain language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0" y="16459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📷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Scanner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Scan documents using camera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0" y="164592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📤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2104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Documents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PDFs and images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971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8872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Documents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 previously uploaded files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2971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75488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Legal Agent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AI-powered document analysis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80960" y="297180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818120" y="3154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21040" y="31089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Crime &amp; Punishment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21040" y="34290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offences and consequences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429768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📖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1188720" y="4434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 Guidance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188720" y="4754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 how court procedures work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114800" y="429768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5196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35" name="Text 33"/>
          <p:cNvSpPr/>
          <p:nvPr/>
        </p:nvSpPr>
        <p:spPr>
          <a:xfrm>
            <a:off x="4754880" y="4434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 Reminders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754880" y="4754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miss a hearing date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7680960" y="429768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818120" y="4480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🌐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8321040" y="44348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Selection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321040" y="4754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Choose your preferred language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" y="56235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580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🗂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1188720" y="5760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Domains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188720" y="6080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on your specific legal area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14800" y="5623560"/>
            <a:ext cx="3383280" cy="1143000"/>
          </a:xfrm>
          <a:prstGeom prst="roundRect">
            <a:avLst>
              <a:gd name="adj" fmla="val 8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5806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4754880" y="5760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Account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754880" y="60807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personal legal workspace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🔍  AI DOCUMENT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legal jargon to plain language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123444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PDF/Image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673352" y="1645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→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0" y="1645920"/>
            <a:ext cx="123444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645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OCR if required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44952" y="1645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00400" y="1645920"/>
            <a:ext cx="123444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0" y="1645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 extraction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16552" y="1645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0" y="1645920"/>
            <a:ext cx="123444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1645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analysis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788152" y="1645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0" y="1645920"/>
            <a:ext cx="123444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0" y="1645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Clause identification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59752" y="1645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315200" y="1645920"/>
            <a:ext cx="123444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0" y="1645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Terms explained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531352" y="1645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686800" y="1645920"/>
            <a:ext cx="123444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0" y="1645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Risky clauses highlighted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902952" y="1645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→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10058400" y="1645920"/>
            <a:ext cx="123444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058400" y="1645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Simple-language output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1274552" y="1645920"/>
            <a:ext cx="182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→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1430000" y="1645920"/>
            <a:ext cx="123444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0" y="1645920"/>
            <a:ext cx="1234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output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548640" y="256032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152E52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74C3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📄  ORIGINAL CLAUSE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31520" y="29718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"Party of the first part shall indemnify and hold harmless the party of the second part from all claims, damages, and liabilities arising out of..."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126480" y="2560320"/>
            <a:ext cx="5303520" cy="1645920"/>
          </a:xfrm>
          <a:prstGeom prst="roundRect">
            <a:avLst>
              <a:gd name="adj" fmla="val 5556"/>
            </a:avLst>
          </a:prstGeom>
          <a:solidFill>
            <a:srgbClr val="152E5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09360" y="26517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CC7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 JURISGUIDE EXPLANATION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309360" y="297180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"This means the first party may have to compensate the other party for certain losses. If something goes wrong, you could be responsible for covering their costs."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4572000"/>
            <a:ext cx="10972800" cy="640080"/>
          </a:xfrm>
          <a:prstGeom prst="roundRect">
            <a:avLst>
              <a:gd name="adj" fmla="val 14286"/>
            </a:avLst>
          </a:prstGeom>
          <a:solidFill>
            <a:srgbClr val="152E52">
              <a:alpha val="20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31520" y="45720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EDA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JurisGuide provides general legal information and does not replace a qualified lawyer. Always consult a legal professional for advice specific to your situation.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⚖  CRIME, PUNISHMENT, RIGHTS &amp; DUTIES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Understanding offences and their consequences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can search or explore an offence and understand what it means and what may follow.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⚖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Meaning of the offence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the offence means in simple terms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14800" y="164592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51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📖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5488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Relevant law / section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75488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Which law or section applies, where known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680960" y="164592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1812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21040" y="17830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Possible punishment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21040" y="21031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consequences may apply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188720" y="3154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Basic legal procedure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8872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steps are generally involved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114800" y="3017520"/>
            <a:ext cx="3383280" cy="1188720"/>
          </a:xfrm>
          <a:prstGeom prst="roundRect">
            <a:avLst>
              <a:gd name="adj" fmla="val 769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32004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754880" y="31546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Rights &amp; responsibilities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54880" y="347472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related rights and duties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" y="457200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52E52">
              <a:alpha val="20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5720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EDA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Disclaimer: Possible legal consequences depend on the applicable law, jurisdiction and facts of the case. JurisGuide provides general legal information, not a final legal judgment.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🌐  MULTILINGUAL &amp; ACCESSIBILITY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understanding in your own language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Language should never be a barrier to understanding your rights and documents.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DBE5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37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document (any language)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926080" y="230428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60604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explanation generated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926080" y="317296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47472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4747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Translated to preferred language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926080" y="4041648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343400"/>
            <a:ext cx="5029200" cy="548640"/>
          </a:xfrm>
          <a:prstGeom prst="roundRect">
            <a:avLst>
              <a:gd name="adj" fmla="val 16667"/>
            </a:avLst>
          </a:prstGeom>
          <a:solidFill>
            <a:srgbClr val="152E5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434340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Simple, understandable output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7373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17373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English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86800" y="17373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778240" y="1874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235440" y="17373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हिन्दी (Hindi)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26517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67512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বাংলা (Bengali)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686800" y="26517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0" y="2788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235440" y="26517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தமிழ் (Tamil)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126480" y="35661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675120" y="3566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తెలుగు (Telugu)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6800" y="3566160"/>
            <a:ext cx="2377440" cy="731520"/>
          </a:xfrm>
          <a:prstGeom prst="roundRect">
            <a:avLst>
              <a:gd name="adj" fmla="val 125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778240" y="37033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235440" y="356616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मराठी (Marathi)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0" y="4572000"/>
            <a:ext cx="4937760" cy="731520"/>
          </a:xfrm>
          <a:prstGeom prst="roundRect">
            <a:avLst>
              <a:gd name="adj" fmla="val 12500"/>
            </a:avLst>
          </a:prstGeom>
          <a:solidFill>
            <a:srgbClr val="152E52"/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9360" y="457200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can access explanations in languages they are comfortable with, making legal information accessible to more citizens.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🖥  BACKEND ARCHITECTURE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Technical architecture of JurisGuide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114800" y="146304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0" y="14630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DAD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0" y="192024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114800" y="205740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0" y="20574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8C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0" y="251460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114800" y="265176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0" y="2651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BC9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 LOGIC / TYPESCRIPT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0" y="3200400"/>
            <a:ext cx="4846320" cy="1645920"/>
          </a:xfrm>
          <a:prstGeom prst="roundRect">
            <a:avLst>
              <a:gd name="adj" fmla="val 5556"/>
            </a:avLst>
          </a:prstGeom>
          <a:solidFill>
            <a:srgbClr val="152E52"/>
          </a:solidFill>
          <a:ln w="19050">
            <a:solidFill>
              <a:srgbClr val="D4A8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0" y="32461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🗄  SUPABASE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361188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Authentication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217920" y="361188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Database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840480" y="39776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0" y="3977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Storage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6217920" y="39776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39776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Level Security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840480" y="434340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43434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Functions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943600" y="484632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114800" y="493776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0" y="493776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B8F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🤖  AI / EXTERNAL SERVICES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43600" y="5394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4114800" y="5669280"/>
            <a:ext cx="3931920" cy="457200"/>
          </a:xfrm>
          <a:prstGeom prst="roundRect">
            <a:avLst>
              <a:gd name="adj" fmla="val 20000"/>
            </a:avLst>
          </a:prstGeom>
          <a:solidFill>
            <a:srgbClr val="152E52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0" y="566928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8D6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✅  RESULT  →  USER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503920" y="146304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0" y="146304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•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78240" y="14630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Frontend: React + TypeScript/TSX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503920" y="205740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95360" y="205740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•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778240" y="20574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Application: Components, pages, hooks, API calls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503920" y="265176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595360" y="265176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778240" y="26517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Authentication: Supabase Auth handles login securely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503920" y="324612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595360" y="324612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•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778240" y="324612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Database: PostgreSQL stores profiles, documents, reminders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503920" y="384048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595360" y="384048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•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78240" y="384048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Storage: Supabase Storage for uploaded PDFs/images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8503920" y="443484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595360" y="443484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•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8778240" y="443484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Security: RLS ensures users access only their data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8503920" y="502920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595360" y="502920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•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778240" y="502920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Functions: Server-side ops, protect API keys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8503920" y="5623560"/>
            <a:ext cx="3200400" cy="502920"/>
          </a:xfrm>
          <a:prstGeom prst="roundRect">
            <a:avLst>
              <a:gd name="adj" fmla="val 18182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595360" y="5623560"/>
            <a:ext cx="182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4A82F"/>
                </a:solidFill>
              </a:rPr>
              <a:t>•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778240" y="5623560"/>
            <a:ext cx="2834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AI: Processes text and questions for explanations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🗄  DATABASE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Relational database structure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 stores all structured data with user-specific relationships.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3200400" cy="3200400"/>
          </a:xfrm>
          <a:prstGeom prst="roundRect">
            <a:avLst>
              <a:gd name="adj" fmla="val 2857"/>
            </a:avLst>
          </a:prstGeom>
          <a:solidFill>
            <a:srgbClr val="152E52"/>
          </a:solidFill>
          <a:ln w="19050">
            <a:solidFill>
              <a:srgbClr val="D4A82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👤  users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103120"/>
            <a:ext cx="2926080" cy="18288"/>
          </a:xfrm>
          <a:prstGeom prst="roundRect">
            <a:avLst/>
          </a:prstGeom>
          <a:solidFill>
            <a:srgbClr val="D4A82F">
              <a:alpha val="5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194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560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full_name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291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mobile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576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77240" y="40233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preferred_language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4480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user record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0" y="16459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5196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43400" y="196596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343400" y="214884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user_id (FK)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343400" y="233172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343400" y="251460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343400" y="269748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extracted_text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343400" y="288036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863840" y="164592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01000" y="16916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reminders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092440" y="196596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8092440" y="214884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user_id (FK)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092440" y="233172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092440" y="251460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case_number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8092440" y="269748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092440" y="288036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092440" y="306324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114800" y="320040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5196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court_cases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43400" y="352044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343400" y="370332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user_id (FK)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343400" y="388620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case_name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343400" y="406908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343400" y="425196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863840" y="320040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01000" y="32461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chat_history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092440" y="352044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092440" y="370332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user_id (FK)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092440" y="388620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title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8092440" y="406908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created_at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114800" y="4754880"/>
            <a:ext cx="3474720" cy="1371600"/>
          </a:xfrm>
          <a:prstGeom prst="roundRect">
            <a:avLst>
              <a:gd name="adj" fmla="val 6667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48006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legal_queries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343400" y="507492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 (PK)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343400" y="525780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user_id (FK)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4343400" y="544068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query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343400" y="562356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4343400" y="5806440"/>
            <a:ext cx="3017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4114800" y="4937760"/>
            <a:ext cx="7498080" cy="640080"/>
          </a:xfrm>
          <a:prstGeom prst="roundRect">
            <a:avLst>
              <a:gd name="adj" fmla="val 14286"/>
            </a:avLst>
          </a:prstGeom>
          <a:solidFill>
            <a:srgbClr val="152E52"/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297680" y="4937760"/>
            <a:ext cx="7132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🔑  Each user has a unique account. All records are connected through user IDs. Documents, reminders, and chat history belong to individual users.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🔒  SECURITY &amp; PRIVACY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is part of the product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Legal information is sensitive. JurisGuide is built with security at its core.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8872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Authentication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18872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user authentication handled by Supabase Auth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126480" y="164592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🔑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766560" y="17373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Password Handling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76656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Passwords managed through the auth service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69748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8872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 Level Security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8872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Users can only access their own records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269748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Document Storage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766560" y="3108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Uploaded documents stored in private storage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74904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👁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18872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 Control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8872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user sees only their own documents and data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749040"/>
            <a:ext cx="5303520" cy="914400"/>
          </a:xfrm>
          <a:prstGeom prst="roundRect">
            <a:avLst>
              <a:gd name="adj" fmla="val 10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3931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76656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 Variables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766560" y="41605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Secret keys kept server-side, never in frontend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5029200"/>
            <a:ext cx="10972800" cy="731520"/>
          </a:xfrm>
          <a:prstGeom prst="roundRect">
            <a:avLst>
              <a:gd name="adj" fmla="val 12500"/>
            </a:avLst>
          </a:prstGeom>
          <a:solidFill>
            <a:srgbClr val="152E52"/>
          </a:solidFill>
          <a:ln w="19050">
            <a:solidFill>
              <a:srgbClr val="D4A82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1520" y="502920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🛡  "Legal information is sensitive information, so security is part of the product — not an optional feature."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🗂  TECHNOLOGY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with a modern, scalable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8872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23160" y="2286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TypeScript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2286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TSX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1520" y="27432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CSS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23160" y="27432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23160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6459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63640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🗄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766560" y="17830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/ BaaS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2286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0936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001000" y="2286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0100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Auth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9692640" y="22860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22860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PostgreSQL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309360" y="27432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9360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Supabase Storage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8001000" y="274320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01000" y="2743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Edge Functions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7490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⚙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18872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Development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31520" y="438912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152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23160" y="438912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42316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/ GitHub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126480" y="374904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3886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🤖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76656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B8FC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Layer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438912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model / API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001000" y="4389120"/>
            <a:ext cx="1554480" cy="365760"/>
          </a:xfrm>
          <a:prstGeom prst="roundRect">
            <a:avLst>
              <a:gd name="adj" fmla="val 12500"/>
            </a:avLst>
          </a:prstGeom>
          <a:solidFill>
            <a:srgbClr val="0D1F3D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0100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 processing / OCR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48640" y="5943600"/>
            <a:ext cx="10972800" cy="457200"/>
          </a:xfrm>
          <a:prstGeom prst="roundRect">
            <a:avLst>
              <a:gd name="adj" fmla="val 20000"/>
            </a:avLst>
          </a:prstGeom>
          <a:solidFill>
            <a:srgbClr val="152E52">
              <a:alpha val="20000"/>
            </a:srgbClr>
          </a:solidFill>
          <a:ln w="12700">
            <a:solidFill>
              <a:srgbClr val="D4A82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31520" y="594360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EDA8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AI provider details are abstracted through an edge function layer, allowing the AI model to be changed without affecting the frontend.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❤  REAL-WORLD IMPACT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JurisGuide helps different people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1F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37160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DADE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Citizens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✓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legal awareness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document understanding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77240" y="3931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9728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access to legal information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457200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45720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Regional language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43400" y="16459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26280" y="18288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1F3D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⚖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516636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People in Court Matters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9204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understanding of procedures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291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Hearing reminders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0" y="3931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Organized document storage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138160" y="164592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152E52"/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182880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0D1F3D"/>
          </a:solidFill>
          <a:ln/>
        </p:spPr>
      </p:sp>
      <p:sp>
        <p:nvSpPr>
          <p:cNvPr id="28" name="Text 26"/>
          <p:cNvSpPr/>
          <p:nvPr/>
        </p:nvSpPr>
        <p:spPr>
          <a:xfrm>
            <a:off x="8321040" y="1828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🛡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8961120" y="182880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9B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Society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366760" y="265176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686800" y="2651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legal literacy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366760" y="329184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✓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686800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awareness of rights and duties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66760" y="3931920"/>
            <a:ext cx="27432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686800" y="3931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Easier access to general legal information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✨  FUTURE SCOPE &amp; CONCLUSION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JurisGuide goes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POSSIBILITIES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More Indian and regional languages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document OCR 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8346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legal-domain-specific AI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32918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3291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official legal sources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68680" y="37490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Court case tracking where feasible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42062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68680" y="4206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Lawyer and legal-aid referral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6634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68680" y="46634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Voice-based legal assistance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1206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Personalized legal information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5577840"/>
            <a:ext cx="182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4A82F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68680" y="55778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BE5F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document risk detection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645920"/>
            <a:ext cx="5486400" cy="2011680"/>
          </a:xfrm>
          <a:prstGeom prst="roundRect">
            <a:avLst>
              <a:gd name="adj" fmla="val 4545"/>
            </a:avLst>
          </a:prstGeom>
          <a:solidFill>
            <a:srgbClr val="152E52"/>
          </a:solidFill>
          <a:ln w="19050">
            <a:solidFill>
              <a:srgbClr val="D4A82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09360" y="178308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⚖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858000" y="1737360"/>
            <a:ext cx="45720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"JurisGuide does not aim to replace lawyers. It aims to make legal information easier to understand before people take their next step."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3931920"/>
            <a:ext cx="731520" cy="27432"/>
          </a:xfrm>
          <a:prstGeom prst="roundRect">
            <a:avLst/>
          </a:prstGeom>
          <a:solidFill>
            <a:srgbClr val="D4A82F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4A82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Understand the law. Know your rights. Take informed decisions.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4846320"/>
            <a:ext cx="5486400" cy="548640"/>
          </a:xfrm>
          <a:prstGeom prst="roundRect">
            <a:avLst>
              <a:gd name="adj" fmla="val 16667"/>
            </a:avLst>
          </a:prstGeom>
          <a:solidFill>
            <a:srgbClr val="152E52">
              <a:alpha val="50000"/>
            </a:srgbClr>
          </a:solidFill>
          <a:ln w="12700">
            <a:solidFill>
              <a:srgbClr val="1E3D6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4846320"/>
            <a:ext cx="5120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  JurisGuide is an AI-powered legal information platform, not a substitute for professional legal advice.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26480" y="56692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0789920" y="64008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JurisGuide - AI-Powered Legal Companion</dc:title>
  <dc:subject>Legal Information Platform</dc:subject>
  <dc:creator>JurisGuide Team</dc:creator>
  <cp:lastModifiedBy>JurisGuide Team</cp:lastModifiedBy>
  <cp:revision>1</cp:revision>
  <dcterms:created xsi:type="dcterms:W3CDTF">2026-08-25T17:01:37Z</dcterms:created>
  <dcterms:modified xsi:type="dcterms:W3CDTF">2026-08-25T17:01:37Z</dcterms:modified>
</cp:coreProperties>
</file>